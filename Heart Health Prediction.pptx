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3" r:id="rId14"/>
    <p:sldId id="268" r:id="rId15"/>
    <p:sldId id="270" r:id="rId16"/>
    <p:sldId id="269" r:id="rId17"/>
    <p:sldId id="271" r:id="rId18"/>
    <p:sldId id="272" r:id="rId19"/>
  </p:sldIdLst>
  <p:sldSz cx="9144000" cy="5143500" type="screen16x9"/>
  <p:notesSz cx="6858000" cy="9144000"/>
  <p:embeddedFontLst>
    <p:embeddedFont>
      <p:font typeface="Cambria" panose="02040503050406030204" pitchFamily="18" charset="0"/>
      <p:regular r:id="rId21"/>
      <p:bold r:id="rId22"/>
      <p:italic r:id="rId23"/>
      <p:boldItalic r:id="rId24"/>
    </p:embeddedFont>
    <p:embeddedFont>
      <p:font typeface="Nunito" pitchFamily="2" charset="0"/>
      <p:regular r:id="rId25"/>
      <p:bold r:id="rId26"/>
      <p:italic r:id="rId27"/>
      <p:boldItalic r:id="rId28"/>
    </p:embeddedFont>
    <p:embeddedFont>
      <p:font typeface="Open Sans" panose="020B0606030504020204" pitchFamily="34" charset="0"/>
      <p:regular r:id="rId29"/>
      <p:bold r:id="rId30"/>
      <p:italic r:id="rId31"/>
      <p:boldItalic r:id="rId32"/>
    </p:embeddedFont>
    <p:embeddedFont>
      <p:font typeface="PT Sans Narrow" panose="020B0506020203020204" pitchFamily="34" charset="0"/>
      <p:regular r:id="rId33"/>
      <p:bold r:id="rId34"/>
    </p:embeddedFont>
    <p:embeddedFont>
      <p:font typeface="Script MT Bold" panose="03040602040607080904" pitchFamily="66" charset="0"/>
      <p:bold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520" y="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9" Type="http://schemas.openxmlformats.org/officeDocument/2006/relationships/tableStyles" Target="tableStyles.xml"/><Relationship Id="rId21" Type="http://schemas.openxmlformats.org/officeDocument/2006/relationships/font" Target="fonts/font1.fntdata"/><Relationship Id="rId34" Type="http://schemas.openxmlformats.org/officeDocument/2006/relationships/font" Target="fonts/font1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font" Target="fonts/font15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c712af7ef_0_2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ac712af7ef_0_2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problem are we trying to solve? Why should we care about this problem?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"/>
            </a:br>
            <a:r>
              <a:rPr lang="en"/>
              <a:t>“Heart disease remains one of the leading causes of death worldwide. Many risk factors—like blood pressure, cholesterol, age, and lifestyle—can be tracked. This makes heart-health prediction an ideal domain for data mining, where identifying patterns early can save lives.”</a:t>
            </a:r>
            <a:br>
              <a:rPr lang="en"/>
            </a:br>
            <a:endParaRPr sz="1350">
              <a:solidFill>
                <a:srgbClr val="1C1D1F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ac712af7ef_0_2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ac712af7ef_0_2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“Our goal was to evaluate different data-mining techniques to determine which method best predicts heart-disease risk.”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c712af7ef_0_2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ac712af7ef_0_2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does our dataset contain?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"/>
            </a:br>
            <a:r>
              <a:rPr lang="en"/>
              <a:t>“We used the well-known heart-disease dataset with 303 samples and 13 features. It includes demographic information, test results, and symptoms. The target variable indicates whether heart disease is present.”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ac712af7ef_0_2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ac712af7ef_0_2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“To prepare the dataset, we handled missing values, encoded categorical features like chest-pain type and thal, normalized numerical variables, and split the dataset into training and testing sets for fair model evaluation.”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ac8973cfa3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ac8973cfa3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c8973cfa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ac8973cfa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ac8973cfa3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ac8973cfa3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c712af7ef_0_3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ac712af7ef_0_3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selected Logistic Regression as the final model because it offers equal performance with better interpretability.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ac8973cfa3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ac8973cfa3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selected Logistic Regression as the final model because it offers equal performance with better interpretability.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ac712af7ef_0_3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ac712af7ef_0_3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c712af7ef_0_3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ac712af7ef_0_3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c8973cfa3_1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ac8973cfa3_1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ac712af7ef_0_2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ac712af7ef_0_2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“Our results showed that the Random Forest model performed best, achieving around 90% accuracy and the highest F1-score. Logistic regression performed reasonably well, while the decision tree showed more variability. This suggests ensemble methods capture complex clinical patterns effectively.”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ac712af7ef_0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ac712af7ef_0_3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ac712af7ef_0_2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ac712af7ef_0_2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conclude: data-mining techniques can effectively predict heart-disease risk. Logistic Regression models performed strongest in our analysis. With further refinement, these tools could help support early diagnosis and improve patient outcomes.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2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6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>
            <a:spLocks noGrp="1"/>
          </p:cNvSpPr>
          <p:nvPr>
            <p:ph type="body" idx="1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>
            <a:endParaRPr/>
          </a:p>
        </p:txBody>
      </p:sp>
      <p:sp>
        <p:nvSpPr>
          <p:cNvPr id="54" name="Google Shape;5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>
            <a:spLocks noGrp="1"/>
          </p:cNvSpPr>
          <p:nvPr>
            <p:ph type="body" idx="1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trop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dc.gov/heart-disease/data-research/facts-stats/index.html#cdcreference_1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cdc.gov/heart-disease/data-research/facts-stats/index.html#cdcreference_2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Heart Health Prediction</a:t>
            </a:r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1"/>
          </p:nvPr>
        </p:nvSpPr>
        <p:spPr>
          <a:xfrm>
            <a:off x="311700" y="3150100"/>
            <a:ext cx="8520600" cy="93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F1F1F"/>
                </a:solidFill>
                <a:latin typeface="Cambria"/>
                <a:ea typeface="Cambria"/>
                <a:cs typeface="Cambria"/>
                <a:sym typeface="Cambria"/>
              </a:rPr>
              <a:t>Team: Ryan Bouapheng, Ritesh Dumpala, Faith Nnakwe</a:t>
            </a:r>
            <a:br>
              <a:rPr lang="en">
                <a:solidFill>
                  <a:srgbClr val="1F1F1F"/>
                </a:solidFill>
                <a:latin typeface="Cambria"/>
                <a:ea typeface="Cambria"/>
                <a:cs typeface="Cambria"/>
                <a:sym typeface="Cambria"/>
              </a:rPr>
            </a:br>
            <a:endParaRPr>
              <a:solidFill>
                <a:srgbClr val="1F1F1F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F1F1F"/>
                </a:solidFill>
                <a:latin typeface="Cambria"/>
                <a:ea typeface="Cambria"/>
                <a:cs typeface="Cambria"/>
                <a:sym typeface="Cambria"/>
              </a:rPr>
              <a:t>Data Mining: Jingyu Li</a:t>
            </a:r>
            <a:endParaRPr>
              <a:solidFill>
                <a:srgbClr val="1F1F1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Heart Health Matters</a:t>
            </a:r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body" idx="1"/>
          </p:nvPr>
        </p:nvSpPr>
        <p:spPr>
          <a:xfrm>
            <a:off x="311700" y="1152425"/>
            <a:ext cx="8520600" cy="341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“Cardiovascular disease is a leading cause of death worldwide, yet many cases are preventable through early detection and risk assessment.” (</a:t>
            </a:r>
            <a:r>
              <a:rPr lang="en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Resource</a:t>
            </a:r>
            <a:r>
              <a:rPr lang="en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“In the U.S., cardiovascular disease causes one death every 34 seconds, and 919,032 people died from it in 2023.” (</a:t>
            </a:r>
            <a:r>
              <a:rPr lang="en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Resource</a:t>
            </a:r>
            <a:r>
              <a:rPr lang="en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“Heart disease cost about $417.9 billion from 2020 to 2021. This includes the cost of healthcare services, medicines, and lost productivity due to death.” (</a:t>
            </a:r>
            <a:r>
              <a:rPr lang="en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Resource</a:t>
            </a:r>
            <a:r>
              <a:rPr lang="en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Objective</a:t>
            </a:r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Times New Roman"/>
              <a:buChar char="-"/>
            </a:pPr>
            <a:r>
              <a:rPr lang="en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objective of this project is to develop an accurate and reliable predictive model that assesses an individual’s risk of cardiovascular disease using medical and lifestyle data.</a:t>
            </a:r>
            <a:endParaRPr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Times New Roman"/>
              <a:buChar char="-"/>
            </a:pPr>
            <a:r>
              <a:rPr lang="en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Traditional screening methods may overlook subtle, multi-factor interactions present in patient data. There is a need for data-driven predictive tools that can analyze complex medical and lifestyle indicators to accurately identify individuals at high risk. </a:t>
            </a:r>
            <a:endParaRPr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Times New Roman"/>
              <a:buChar char="-"/>
            </a:pPr>
            <a:r>
              <a:rPr lang="en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project seeks to address this gap by developing machine learning models capable of supporting early intervention and improved clinical decision-making.</a:t>
            </a:r>
            <a:endParaRPr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>
            <a:spLocks noGrp="1"/>
          </p:cNvSpPr>
          <p:nvPr>
            <p:ph type="title"/>
          </p:nvPr>
        </p:nvSpPr>
        <p:spPr>
          <a:xfrm>
            <a:off x="311700" y="2386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Summary</a:t>
            </a: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body" idx="1"/>
          </p:nvPr>
        </p:nvSpPr>
        <p:spPr>
          <a:xfrm>
            <a:off x="160825" y="1093450"/>
            <a:ext cx="3670500" cy="309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Table/Summary</a:t>
            </a:r>
            <a:endParaRPr sz="1600" b="1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600"/>
              <a:buChar char="●"/>
            </a:pPr>
            <a:r>
              <a:rPr lang="en" sz="1600" b="1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Number of rows:</a:t>
            </a:r>
            <a:r>
              <a:rPr lang="en" sz="16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1,000</a:t>
            </a:r>
            <a:endParaRPr sz="16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600"/>
              <a:buChar char="●"/>
            </a:pPr>
            <a:r>
              <a:rPr lang="en" sz="1600" b="1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Number of attributes:</a:t>
            </a:r>
            <a:r>
              <a:rPr lang="en" sz="16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14</a:t>
            </a:r>
            <a:endParaRPr sz="16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600"/>
              <a:buChar char="●"/>
            </a:pPr>
            <a:r>
              <a:rPr lang="en" sz="1600" b="1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Source:</a:t>
            </a:r>
            <a:r>
              <a:rPr lang="en" sz="16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Provided patient cardiovascular dataset sample</a:t>
            </a:r>
            <a:endParaRPr sz="16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4476000" y="946025"/>
            <a:ext cx="4356300" cy="346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8"/>
              <a:buFont typeface="Arial"/>
              <a:buNone/>
            </a:pPr>
            <a:r>
              <a:rPr lang="en" sz="1500" b="1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Features</a:t>
            </a:r>
            <a:endParaRPr sz="1500" b="1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Age</a:t>
            </a:r>
            <a:endParaRPr sz="16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Gender/Sex</a:t>
            </a:r>
            <a:endParaRPr sz="16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Chest pain type</a:t>
            </a:r>
            <a:endParaRPr sz="16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Resting blood pressure</a:t>
            </a:r>
            <a:endParaRPr sz="16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Serum cholesterol</a:t>
            </a:r>
            <a:endParaRPr sz="16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Fasting blood sugar</a:t>
            </a:r>
            <a:endParaRPr sz="16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Resting electrocardiographic results</a:t>
            </a:r>
            <a:endParaRPr sz="16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Maximum heart rate achieved</a:t>
            </a:r>
            <a:endParaRPr sz="16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Exercise-induced angina</a:t>
            </a:r>
            <a:endParaRPr sz="16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 depression (oldpeak)</a:t>
            </a:r>
            <a:endParaRPr sz="16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Slope of ST segment</a:t>
            </a:r>
            <a:endParaRPr sz="16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Number of major vessels</a:t>
            </a:r>
            <a:endParaRPr sz="16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Target (heart disease indicator)</a:t>
            </a:r>
            <a:endParaRPr sz="16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>
            <a:spLocks noGrp="1"/>
          </p:cNvSpPr>
          <p:nvPr>
            <p:ph type="title"/>
          </p:nvPr>
        </p:nvSpPr>
        <p:spPr>
          <a:xfrm>
            <a:off x="311700" y="1419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Preprocessing</a:t>
            </a:r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body" idx="1"/>
          </p:nvPr>
        </p:nvSpPr>
        <p:spPr>
          <a:xfrm>
            <a:off x="311700" y="716700"/>
            <a:ext cx="8520600" cy="420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Missing Values → Encoding (one-hot) → Normalization → Train/Test Split</a:t>
            </a:r>
            <a:endParaRPr/>
          </a:p>
        </p:txBody>
      </p:sp>
      <p:pic>
        <p:nvPicPr>
          <p:cNvPr id="93" name="Google Shape;93;p17"/>
          <p:cNvPicPr preferRelativeResize="0"/>
          <p:nvPr/>
        </p:nvPicPr>
        <p:blipFill rotWithShape="1">
          <a:blip r:embed="rId3">
            <a:alphaModFix/>
          </a:blip>
          <a:srcRect b="16015"/>
          <a:stretch/>
        </p:blipFill>
        <p:spPr>
          <a:xfrm>
            <a:off x="718675" y="1325900"/>
            <a:ext cx="2626000" cy="325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7"/>
          <p:cNvPicPr preferRelativeResize="0"/>
          <p:nvPr/>
        </p:nvPicPr>
        <p:blipFill rotWithShape="1">
          <a:blip r:embed="rId3">
            <a:alphaModFix/>
          </a:blip>
          <a:srcRect t="87948"/>
          <a:stretch/>
        </p:blipFill>
        <p:spPr>
          <a:xfrm>
            <a:off x="3913613" y="2123900"/>
            <a:ext cx="3642825" cy="64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>
            <a:spLocks noGrp="1"/>
          </p:cNvSpPr>
          <p:nvPr>
            <p:ph type="title"/>
          </p:nvPr>
        </p:nvSpPr>
        <p:spPr>
          <a:xfrm>
            <a:off x="136200" y="7957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Analyzing the Data</a:t>
            </a:r>
            <a:endParaRPr/>
          </a:p>
        </p:txBody>
      </p:sp>
      <p:sp>
        <p:nvSpPr>
          <p:cNvPr id="100" name="Google Shape;100;p18"/>
          <p:cNvSpPr txBox="1">
            <a:spLocks noGrp="1"/>
          </p:cNvSpPr>
          <p:nvPr>
            <p:ph type="body" idx="1"/>
          </p:nvPr>
        </p:nvSpPr>
        <p:spPr>
          <a:xfrm>
            <a:off x="136200" y="704725"/>
            <a:ext cx="8871600" cy="419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Performed full EDA</a:t>
            </a:r>
            <a:endParaRPr sz="15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Multiple visualizations for clinical features - </a:t>
            </a:r>
            <a:endParaRPr sz="15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45720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Box Plots, Count plots, Violin plots, KDE, jointplots, heatmaps, ROC curves, etc.</a:t>
            </a:r>
            <a:endParaRPr sz="15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Feature correlation &amp; importance analysis</a:t>
            </a:r>
            <a:endParaRPr sz="15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Standardization where required</a:t>
            </a:r>
            <a:endParaRPr sz="15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Stratified train-test split</a:t>
            </a:r>
            <a:endParaRPr sz="15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Multiple ML models compared</a:t>
            </a:r>
            <a:endParaRPr sz="15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Evaluated with Accuracy, Precision, Recall &amp; F1-score</a:t>
            </a:r>
            <a:endParaRPr sz="15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 Importance: </a:t>
            </a:r>
            <a:r>
              <a:rPr lang="en" sz="1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Number of Major Vessels, ST Depression (oldpeak), Chest Pain Type (chestpain), Maximum Heart Rate, Age, Slope </a:t>
            </a:r>
            <a:endParaRPr sz="15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>
            <a:spLocks noGrp="1"/>
          </p:cNvSpPr>
          <p:nvPr>
            <p:ph type="title"/>
          </p:nvPr>
        </p:nvSpPr>
        <p:spPr>
          <a:xfrm>
            <a:off x="311700" y="195425"/>
            <a:ext cx="5234700" cy="73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VISUALIZATION</a:t>
            </a:r>
            <a:endParaRPr/>
          </a:p>
        </p:txBody>
      </p:sp>
      <p:sp>
        <p:nvSpPr>
          <p:cNvPr id="106" name="Google Shape;106;p19"/>
          <p:cNvSpPr txBox="1">
            <a:spLocks noGrp="1"/>
          </p:cNvSpPr>
          <p:nvPr>
            <p:ph type="body" idx="1"/>
          </p:nvPr>
        </p:nvSpPr>
        <p:spPr>
          <a:xfrm>
            <a:off x="311700" y="850425"/>
            <a:ext cx="3897600" cy="37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Histograms of Numeric Features:</a:t>
            </a:r>
            <a:br>
              <a:rPr lang="e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1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Plots show variation in important clinical features</a:t>
            </a:r>
            <a:endParaRPr sz="1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Cholesterol and ST-depression differ greatly among patients</a:t>
            </a:r>
            <a:endParaRPr sz="1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feature distributions improves model evaluation and selection</a:t>
            </a:r>
            <a:endParaRPr sz="21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7" name="Google Shape;10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69775" y="1529600"/>
            <a:ext cx="5008900" cy="2331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>
            <a:spLocks noGrp="1"/>
          </p:cNvSpPr>
          <p:nvPr>
            <p:ph type="title"/>
          </p:nvPr>
        </p:nvSpPr>
        <p:spPr>
          <a:xfrm>
            <a:off x="311700" y="204350"/>
            <a:ext cx="3826200" cy="6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Correlation Heat Map</a:t>
            </a:r>
            <a:endParaRPr/>
          </a:p>
        </p:txBody>
      </p:sp>
      <p:sp>
        <p:nvSpPr>
          <p:cNvPr id="113" name="Google Shape;113;p20"/>
          <p:cNvSpPr txBox="1">
            <a:spLocks noGrp="1"/>
          </p:cNvSpPr>
          <p:nvPr>
            <p:ph type="body" idx="1"/>
          </p:nvPr>
        </p:nvSpPr>
        <p:spPr>
          <a:xfrm>
            <a:off x="311700" y="823550"/>
            <a:ext cx="4485900" cy="37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rgbClr val="000000"/>
                </a:solidFill>
                <a:latin typeface="Times New Roman" panose="02020603050405020304" pitchFamily="18" charset="0"/>
                <a:ea typeface="Open Sans Medium"/>
                <a:cs typeface="Times New Roman" panose="02020603050405020304" pitchFamily="18" charset="0"/>
                <a:sym typeface="Open Sans Medium"/>
              </a:rPr>
              <a:t>• Shows how strongly each clinical feature relates to heart disease (target).</a:t>
            </a:r>
            <a:endParaRPr sz="1400" dirty="0">
              <a:solidFill>
                <a:srgbClr val="000000"/>
              </a:solidFill>
              <a:latin typeface="Times New Roman" panose="02020603050405020304" pitchFamily="18" charset="0"/>
              <a:ea typeface="Open Sans Medium"/>
              <a:cs typeface="Times New Roman" panose="02020603050405020304" pitchFamily="18" charset="0"/>
              <a:sym typeface="Open Sans Medium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rgbClr val="000000"/>
                </a:solidFill>
                <a:latin typeface="Times New Roman" panose="02020603050405020304" pitchFamily="18" charset="0"/>
                <a:ea typeface="Open Sans Medium"/>
                <a:cs typeface="Times New Roman" panose="02020603050405020304" pitchFamily="18" charset="0"/>
                <a:sym typeface="Open Sans Medium"/>
              </a:rPr>
              <a:t>• Oldpeak, chest pain, and number of major vessels show the strongest correlation with disease.</a:t>
            </a:r>
            <a:endParaRPr sz="1400" dirty="0">
              <a:solidFill>
                <a:srgbClr val="000000"/>
              </a:solidFill>
              <a:latin typeface="Times New Roman" panose="02020603050405020304" pitchFamily="18" charset="0"/>
              <a:ea typeface="Open Sans Medium"/>
              <a:cs typeface="Times New Roman" panose="02020603050405020304" pitchFamily="18" charset="0"/>
              <a:sym typeface="Open Sans Medium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rgbClr val="000000"/>
                </a:solidFill>
                <a:latin typeface="Times New Roman" panose="02020603050405020304" pitchFamily="18" charset="0"/>
                <a:ea typeface="Open Sans Medium"/>
                <a:cs typeface="Times New Roman" panose="02020603050405020304" pitchFamily="18" charset="0"/>
                <a:sym typeface="Open Sans Medium"/>
              </a:rPr>
              <a:t>• Maximum heart rate shows a negative correlation → lower rates often indicate disease.</a:t>
            </a:r>
            <a:endParaRPr sz="1400" dirty="0">
              <a:solidFill>
                <a:srgbClr val="000000"/>
              </a:solidFill>
              <a:latin typeface="Times New Roman" panose="02020603050405020304" pitchFamily="18" charset="0"/>
              <a:ea typeface="Open Sans Medium"/>
              <a:cs typeface="Times New Roman" panose="02020603050405020304" pitchFamily="18" charset="0"/>
              <a:sym typeface="Open Sans Medium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rgbClr val="000000"/>
                </a:solidFill>
                <a:latin typeface="Times New Roman" panose="02020603050405020304" pitchFamily="18" charset="0"/>
                <a:ea typeface="Open Sans Medium"/>
                <a:cs typeface="Times New Roman" panose="02020603050405020304" pitchFamily="18" charset="0"/>
                <a:sym typeface="Open Sans Medium"/>
              </a:rPr>
              <a:t>• Many features have low correlation with each other, reducing multicollinearity.</a:t>
            </a:r>
            <a:endParaRPr sz="1400" dirty="0">
              <a:solidFill>
                <a:srgbClr val="000000"/>
              </a:solidFill>
              <a:latin typeface="Times New Roman" panose="02020603050405020304" pitchFamily="18" charset="0"/>
              <a:ea typeface="Open Sans Medium"/>
              <a:cs typeface="Times New Roman" panose="02020603050405020304" pitchFamily="18" charset="0"/>
              <a:sym typeface="Open Sans Medium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 dirty="0">
                <a:solidFill>
                  <a:srgbClr val="000000"/>
                </a:solidFill>
                <a:latin typeface="Times New Roman" panose="02020603050405020304" pitchFamily="18" charset="0"/>
                <a:ea typeface="Open Sans Medium"/>
                <a:cs typeface="Times New Roman" panose="02020603050405020304" pitchFamily="18" charset="0"/>
                <a:sym typeface="Open Sans Medium"/>
              </a:rPr>
              <a:t>• Confirms that multiple independent signals help the model predict accurately.</a:t>
            </a:r>
            <a:endParaRPr sz="1400" dirty="0">
              <a:solidFill>
                <a:srgbClr val="000000"/>
              </a:solidFill>
              <a:latin typeface="Times New Roman" panose="02020603050405020304" pitchFamily="18" charset="0"/>
              <a:ea typeface="Open Sans Medium"/>
              <a:cs typeface="Times New Roman" panose="02020603050405020304" pitchFamily="18" charset="0"/>
              <a:sym typeface="Open Sans Medium"/>
            </a:endParaRPr>
          </a:p>
        </p:txBody>
      </p:sp>
      <p:pic>
        <p:nvPicPr>
          <p:cNvPr id="114" name="Google Shape;11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28650" y="699550"/>
            <a:ext cx="4433705" cy="3869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>
            <a:spLocks noGrp="1"/>
          </p:cNvSpPr>
          <p:nvPr>
            <p:ph type="title"/>
          </p:nvPr>
        </p:nvSpPr>
        <p:spPr>
          <a:xfrm>
            <a:off x="311700" y="155100"/>
            <a:ext cx="3888600" cy="84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Logistic Regression</a:t>
            </a:r>
            <a:endParaRPr b="1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>
              <a:solidFill>
                <a:schemeClr val="dk2"/>
              </a:solidFill>
            </a:endParaRPr>
          </a:p>
        </p:txBody>
      </p:sp>
      <p:pic>
        <p:nvPicPr>
          <p:cNvPr id="120" name="Google Shape;12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55025" y="1002002"/>
            <a:ext cx="4989192" cy="356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1"/>
          <p:cNvSpPr txBox="1">
            <a:spLocks noGrp="1"/>
          </p:cNvSpPr>
          <p:nvPr>
            <p:ph type="body" idx="1"/>
          </p:nvPr>
        </p:nvSpPr>
        <p:spPr>
          <a:xfrm>
            <a:off x="126575" y="1002000"/>
            <a:ext cx="3788400" cy="356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700"/>
              <a:buFont typeface="Times New Roman"/>
              <a:buChar char="●"/>
            </a:pPr>
            <a:r>
              <a:rPr lang="en" sz="17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statistical linear model used for binary classification</a:t>
            </a:r>
            <a:br>
              <a:rPr lang="en" sz="17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7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700"/>
              <a:buFont typeface="Times New Roman"/>
              <a:buChar char="●"/>
            </a:pPr>
            <a:r>
              <a:rPr lang="en" sz="17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Predicts probability of heart disease (0 = No, 1 = Yes)</a:t>
            </a:r>
            <a:br>
              <a:rPr lang="en" sz="17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7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700"/>
              <a:buFont typeface="Times New Roman"/>
              <a:buChar char="●"/>
            </a:pPr>
            <a:r>
              <a:rPr lang="en" sz="17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Fast, simple, and highly interpretable</a:t>
            </a:r>
            <a:br>
              <a:rPr lang="en" sz="17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7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700"/>
              <a:buFont typeface="Times New Roman"/>
              <a:buChar char="●"/>
            </a:pPr>
            <a:r>
              <a:rPr lang="en" sz="17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98.5% accuracy</a:t>
            </a:r>
            <a:endParaRPr sz="17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>
            <a:spLocks noGrp="1"/>
          </p:cNvSpPr>
          <p:nvPr>
            <p:ph type="title"/>
          </p:nvPr>
        </p:nvSpPr>
        <p:spPr>
          <a:xfrm>
            <a:off x="311700" y="110550"/>
            <a:ext cx="3888600" cy="57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Random Forest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7" name="Google Shape;127;p22"/>
          <p:cNvSpPr txBox="1">
            <a:spLocks noGrp="1"/>
          </p:cNvSpPr>
          <p:nvPr>
            <p:ph type="body" idx="1"/>
          </p:nvPr>
        </p:nvSpPr>
        <p:spPr>
          <a:xfrm>
            <a:off x="90925" y="1002000"/>
            <a:ext cx="3726300" cy="356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Ensemble of multiple decision trees</a:t>
            </a:r>
            <a:br>
              <a:rPr lang="en" sz="16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Reduces overfitting and improves prediction stability</a:t>
            </a:r>
            <a:br>
              <a:rPr lang="en" sz="16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Captures feature interactions well</a:t>
            </a:r>
            <a:br>
              <a:rPr lang="en" sz="16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Matches Logistic Regression performance</a:t>
            </a:r>
            <a:endParaRPr sz="16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28" name="Google Shape;12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82223" y="1007223"/>
            <a:ext cx="5079625" cy="355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 txBox="1">
            <a:spLocks noGrp="1"/>
          </p:cNvSpPr>
          <p:nvPr>
            <p:ph type="title"/>
          </p:nvPr>
        </p:nvSpPr>
        <p:spPr>
          <a:xfrm>
            <a:off x="311700" y="146200"/>
            <a:ext cx="4450200" cy="84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Multi-Layer Perceptron Learning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23"/>
          <p:cNvSpPr txBox="1">
            <a:spLocks noGrp="1"/>
          </p:cNvSpPr>
          <p:nvPr>
            <p:ph type="body" idx="1"/>
          </p:nvPr>
        </p:nvSpPr>
        <p:spPr>
          <a:xfrm>
            <a:off x="44575" y="989200"/>
            <a:ext cx="3208800" cy="35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Learns complex nonlinear relationships in data</a:t>
            </a:r>
            <a:br>
              <a:rPr lang="en" sz="16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Uses interconnected neurons across hidden layers</a:t>
            </a:r>
            <a:br>
              <a:rPr lang="en" sz="16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Slightly lower performance due to model complexity</a:t>
            </a:r>
            <a:br>
              <a:rPr lang="en" sz="16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More computationally expensive than simpler models</a:t>
            </a:r>
            <a:endParaRPr sz="16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>
              <a:solidFill>
                <a:srgbClr val="666666"/>
              </a:solidFill>
            </a:endParaRPr>
          </a:p>
        </p:txBody>
      </p:sp>
      <p:pic>
        <p:nvPicPr>
          <p:cNvPr id="135" name="Google Shape;13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51175" y="989238"/>
            <a:ext cx="5529874" cy="386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4"/>
          <p:cNvSpPr txBox="1">
            <a:spLocks noGrp="1"/>
          </p:cNvSpPr>
          <p:nvPr>
            <p:ph type="title"/>
          </p:nvPr>
        </p:nvSpPr>
        <p:spPr>
          <a:xfrm>
            <a:off x="311700" y="190750"/>
            <a:ext cx="3478500" cy="57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Support Vector Machine</a:t>
            </a:r>
            <a:endParaRPr/>
          </a:p>
        </p:txBody>
      </p:sp>
      <p:sp>
        <p:nvSpPr>
          <p:cNvPr id="141" name="Google Shape;141;p24"/>
          <p:cNvSpPr txBox="1">
            <a:spLocks noGrp="1"/>
          </p:cNvSpPr>
          <p:nvPr>
            <p:ph type="body" idx="1"/>
          </p:nvPr>
        </p:nvSpPr>
        <p:spPr>
          <a:xfrm>
            <a:off x="481075" y="981900"/>
            <a:ext cx="2808000" cy="358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Maximizes class separation using optimal decision boundaries.</a:t>
            </a:r>
            <a:endParaRPr sz="16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Works well with high-dimensional feature spaces.</a:t>
            </a:r>
            <a:endParaRPr sz="16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Computationally heavier for larger datasets.</a:t>
            </a:r>
            <a:endParaRPr sz="16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2" name="Google Shape;14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45375" y="981900"/>
            <a:ext cx="5302275" cy="370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4FD87-3E8C-1E05-A2FF-7946C6BCC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ROC Curves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242EE8-9AA8-EBD8-18AE-7C16DD3C02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and Logistic Regression performed best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with nearly identical and near-perfect AUC values.</a:t>
            </a:r>
          </a:p>
          <a:p>
            <a:r>
              <a:rPr lang="en-US" sz="1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SVM and MLP also performed extremely well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though slightly below the baselines suggesting the dataset does not require deep nonlinear transformations.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E4B0CF-1D72-740E-6EA5-4627C3E7BB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7773" y="348093"/>
            <a:ext cx="5233058" cy="4447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6900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5"/>
          <p:cNvSpPr txBox="1"/>
          <p:nvPr/>
        </p:nvSpPr>
        <p:spPr>
          <a:xfrm>
            <a:off x="77975" y="-49950"/>
            <a:ext cx="8284500" cy="71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Confusion Matrix</a:t>
            </a:r>
            <a:endParaRPr sz="26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48" name="Google Shape;14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3225" y="519149"/>
            <a:ext cx="3331951" cy="2307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09850" y="371800"/>
            <a:ext cx="3652625" cy="237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30525" y="2787076"/>
            <a:ext cx="3222225" cy="2301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2948" y="2826275"/>
            <a:ext cx="3222226" cy="230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pic>
        <p:nvPicPr>
          <p:cNvPr id="163" name="Google Shape;16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7213" y="1366838"/>
            <a:ext cx="8029575" cy="240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(Results of metrics)</a:t>
            </a:r>
            <a:endParaRPr/>
          </a:p>
        </p:txBody>
      </p:sp>
      <p:sp>
        <p:nvSpPr>
          <p:cNvPr id="157" name="Google Shape;157;p26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Times New Roman"/>
              <a:buChar char="●"/>
            </a:pPr>
            <a:r>
              <a:rPr lang="en" sz="1600" dirty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Logistic Regression and Random Forest achieved the strongest overall performance.</a:t>
            </a:r>
            <a:endParaRPr sz="1600" dirty="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Times New Roman"/>
              <a:buChar char="●"/>
            </a:pPr>
            <a:r>
              <a:rPr lang="en" sz="1600" dirty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Logistic Regression was selected as the final model due to its simplicity and interpretability.</a:t>
            </a:r>
            <a:endParaRPr sz="1600" dirty="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Times New Roman"/>
              <a:buChar char="●"/>
            </a:pPr>
            <a:r>
              <a:rPr lang="en" sz="1600" dirty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Random Forest, while accurate, is less suited to this dataset because it learns complex nonlinear patterns that do not meaningfully exist in the data. </a:t>
            </a:r>
            <a:endParaRPr sz="1600" dirty="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Times New Roman"/>
              <a:buChar char="●"/>
            </a:pPr>
            <a:r>
              <a:rPr lang="en" sz="1600" dirty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Logistic Regression provides clinically interpretable coefficients, allowing clear understanding of how each feature contributes to risk.</a:t>
            </a:r>
            <a:endParaRPr sz="1600" dirty="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Times New Roman"/>
              <a:buChar char="●"/>
            </a:pPr>
            <a:r>
              <a:rPr lang="en" sz="1600" dirty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healthcare, interpretability and simplicity are preferred when performance is comparable, making the linear model more appropriate for real-world use.</a:t>
            </a:r>
            <a:endParaRPr sz="1600" dirty="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69" name="Google Shape;169;p28"/>
          <p:cNvSpPr txBox="1">
            <a:spLocks noGrp="1"/>
          </p:cNvSpPr>
          <p:nvPr>
            <p:ph type="body" idx="1"/>
          </p:nvPr>
        </p:nvSpPr>
        <p:spPr>
          <a:xfrm>
            <a:off x="311700" y="1073275"/>
            <a:ext cx="8520600" cy="34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-"/>
            </a:pPr>
            <a:r>
              <a:rPr lang="en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Logistic Regression achieved the highest accuracy and F1-score among all models tested.</a:t>
            </a:r>
            <a:endParaRPr sz="16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-"/>
            </a:pPr>
            <a:r>
              <a:rPr lang="en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Most influential features included chest pain type, max heart rate, ST depression, and age.</a:t>
            </a:r>
            <a:endParaRPr sz="16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Limitation:</a:t>
            </a:r>
            <a:endParaRPr sz="1600"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4327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-"/>
            </a:pPr>
            <a:r>
              <a:rPr lang="en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Logistic Regression assumes linear relationships between features and risk, which may oversimplify complex physiological interactions.</a:t>
            </a:r>
            <a:endParaRPr sz="16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-"/>
            </a:pPr>
            <a:r>
              <a:rPr lang="en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dataset is limited to the features provided and may not capture all relevant clinical risk factors.</a:t>
            </a:r>
            <a:endParaRPr sz="16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Improvements:</a:t>
            </a:r>
            <a:endParaRPr sz="1600"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4327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-"/>
            </a:pPr>
            <a:r>
              <a:rPr lang="en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Incorporate a larger and more diverse dataset to improve generalizability across populations.</a:t>
            </a:r>
            <a:endParaRPr sz="16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-"/>
            </a:pPr>
            <a:r>
              <a:rPr lang="en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Explore additional clinical variables (e.g., lab results, family history, imaging data) to enhance predictive power.</a:t>
            </a:r>
            <a:endParaRPr sz="16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76F8A7-73EC-1179-5939-286998B56D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309383"/>
            <a:ext cx="8520600" cy="4259642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5400" dirty="0">
                <a:latin typeface="Script MT Bold" panose="03040602040607080904" pitchFamily="66" charset="0"/>
              </a:rPr>
              <a:t>          </a:t>
            </a:r>
          </a:p>
          <a:p>
            <a:pPr marL="114300" indent="0">
              <a:buNone/>
            </a:pPr>
            <a:r>
              <a:rPr lang="en-US" sz="6600" dirty="0">
                <a:solidFill>
                  <a:srgbClr val="000000"/>
                </a:solidFill>
                <a:latin typeface="Script MT Bold" panose="03040602040607080904" pitchFamily="66" charset="0"/>
              </a:rPr>
              <a:t>           Thank you!</a:t>
            </a:r>
          </a:p>
        </p:txBody>
      </p:sp>
    </p:spTree>
    <p:extLst>
      <p:ext uri="{BB962C8B-B14F-4D97-AF65-F5344CB8AC3E}">
        <p14:creationId xmlns:p14="http://schemas.microsoft.com/office/powerpoint/2010/main" val="19753614"/>
      </p:ext>
    </p:extLst>
  </p:cSld>
  <p:clrMapOvr>
    <a:masterClrMapping/>
  </p:clrMapOvr>
</p:sld>
</file>

<file path=ppt/theme/theme1.xml><?xml version="1.0" encoding="utf-8"?>
<a:theme xmlns:a="http://schemas.openxmlformats.org/drawingml/2006/main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311</TotalTime>
  <Words>1131</Words>
  <Application>Microsoft Office PowerPoint</Application>
  <PresentationFormat>On-screen Show (16:9)</PresentationFormat>
  <Paragraphs>105</Paragraphs>
  <Slides>18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Nunito</vt:lpstr>
      <vt:lpstr>Arial</vt:lpstr>
      <vt:lpstr>Script MT Bold</vt:lpstr>
      <vt:lpstr>PT Sans Narrow</vt:lpstr>
      <vt:lpstr>Open Sans</vt:lpstr>
      <vt:lpstr>Cambria</vt:lpstr>
      <vt:lpstr>Times New Roman</vt:lpstr>
      <vt:lpstr>Tropic</vt:lpstr>
      <vt:lpstr>Heart Health Prediction</vt:lpstr>
      <vt:lpstr>Why Heart Health Matters</vt:lpstr>
      <vt:lpstr>Project Objective</vt:lpstr>
      <vt:lpstr>Dataset Summary</vt:lpstr>
      <vt:lpstr>Data Preprocessing</vt:lpstr>
      <vt:lpstr>Analyzing the Data</vt:lpstr>
      <vt:lpstr>VISUALIZATION</vt:lpstr>
      <vt:lpstr>Correlation Heat Map</vt:lpstr>
      <vt:lpstr>Logistic Regression </vt:lpstr>
      <vt:lpstr>Random Forest</vt:lpstr>
      <vt:lpstr>Multi-Layer Perceptron Learning </vt:lpstr>
      <vt:lpstr>Support Vector Machine</vt:lpstr>
      <vt:lpstr>ROC Curves</vt:lpstr>
      <vt:lpstr>PowerPoint Presentation</vt:lpstr>
      <vt:lpstr>Results</vt:lpstr>
      <vt:lpstr>(Results of metrics)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Faith Nnakwe</cp:lastModifiedBy>
  <cp:revision>3</cp:revision>
  <dcterms:modified xsi:type="dcterms:W3CDTF">2025-12-02T20:08:01Z</dcterms:modified>
</cp:coreProperties>
</file>